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</p:sldMasterIdLst>
  <p:notesMasterIdLst>
    <p:notesMasterId r:id="rId14"/>
  </p:notesMasterIdLst>
  <p:sldIdLst>
    <p:sldId id="369" r:id="rId5"/>
    <p:sldId id="388" r:id="rId6"/>
    <p:sldId id="385" r:id="rId7"/>
    <p:sldId id="370" r:id="rId8"/>
    <p:sldId id="371" r:id="rId9"/>
    <p:sldId id="382" r:id="rId10"/>
    <p:sldId id="383" r:id="rId11"/>
    <p:sldId id="372" r:id="rId12"/>
    <p:sldId id="3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7ED70-CC30-8CB0-7EA7-3113DCB208AE}" v="10" dt="2025-11-10T15:43:06.867"/>
    <p1510:client id="{4A33B675-B3D0-7CCE-7F3F-FF694B4F127A}" v="1" dt="2025-11-10T22:36:46.123"/>
    <p1510:client id="{926D7D79-9611-EB55-509B-A0F7323BE4B2}" v="4" dt="2025-11-10T15:01:45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35C32-9ADE-FE42-918C-822D8563D33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A7DDB-EEC3-E14D-8139-D0C29FBA1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6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1E48-DB85-F6D6-98FD-D69D397CA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A4C87-A18C-14E5-2832-C61D2DA80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537C-468D-AA39-E97A-A5850F43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E93AA-736F-E325-3828-FD12DD70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EF155-BFFF-2C07-CB8D-D1E863F3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4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C6AE-0445-17B0-2B0C-3DAB78DE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F4DAE-7AAB-55A7-C28E-732080A46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BAFE2-8D07-48E6-BD89-D9924F8C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CA5F0-C6DE-7133-2CE6-939FA47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FE33A-9808-7C8D-16E4-3D1AE4C5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8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AE7B-4FEB-869C-3AA1-FA36A889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556BD-DBE4-E055-C8ED-CC2E223FF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1DD66-5D23-6C35-AB4C-61A3D885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ECC1-FD73-63ED-673B-16F7FC9F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A972C-8465-2BEB-7197-26DCB8CA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8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C264-E62D-5BAE-F397-467E3F38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27933-7C9A-1D3F-47D3-840B9D167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A6641-E561-2347-1176-4509B9584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59FAA-D865-3E92-4804-251123AD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827EC-D446-45A3-F49B-23E3C7424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DA673-B2B5-E6B0-D66A-62D6A54E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3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7B28-0165-557A-84BA-2D3F188C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DCAD1-4959-CBD0-B9B0-427555338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3B4B6-FC9D-71A6-9E8B-78CC4DE54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78202-5185-1A9A-1141-271736321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5E97A-5268-6E89-57BF-BD7E300BC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5C48F-A272-43A4-2FB5-7441C74F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548D1-0613-E9CB-6D0A-411D6D1F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564F2-5167-1FB8-B39A-FD555071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78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4D44-5854-3409-FFCF-1D254360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801C5-CB30-2273-E4A1-16EBCE21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1BF58-1B67-A949-A31A-2A48FBCE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3E830-C05C-4004-DB5E-DE43FFF2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5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608E2-18F2-07EC-B18B-965DB35B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1EC9D-22EA-E11F-B657-C8852C2E6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42B0A-D8F8-647A-E816-6B713DBC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8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4FA8-A95F-84CB-8A8E-D1C1D51C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B766A-DC12-204C-6F1C-8477EE66D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0FE36-ED46-C6B5-7120-987FF9BD7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87A3E-FC52-B14F-49EB-BFAF45854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F6DDD-8147-4456-C4D4-F4C1F454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DA976-F86E-8239-90D4-606FD31A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1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259F3-9DDA-6D78-3D9E-3D482CA5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49199-F479-5474-FC83-F3204D930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C5F15-A8FD-A38A-07BF-408766049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DB868-80C6-6954-F986-0E264239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BAF49-9444-8FDE-1F72-6B24575F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F7751-FB58-97D2-38F6-41177177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8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58C7-EDD5-81C2-3CAA-21CAFF2B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90EE0-12A7-6708-8DC9-9C15E842E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BBF7C-3F76-7BDE-CA2A-A8BA48FF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BEFE1-20A1-43C9-FFF9-3392BAD0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18F0-E5E8-C8F7-FE0C-90B56A81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4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8395C-FEC3-7DCB-34FA-412BE358D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0072F-536A-04F7-991B-819DAF7CE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B4187-3E21-A305-6249-D9E7A72E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5214C-2D76-3A18-15A9-2ECB974B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E4AC-3647-733D-A3B5-4D5B134A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643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0A0F5-841A-278A-ACD0-A6FB126AA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8B864-000D-A41F-F722-59C0216EA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B2D9E-3FA6-4515-22D3-8699BDEF1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F9CC6-4897-570D-574E-E697C926B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9DFB-7577-712E-2213-AABE72E3D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8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2334C-2128-6EF5-3E4B-DAD27C31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73157"/>
            <a:ext cx="8825658" cy="3329581"/>
          </a:xfrm>
        </p:spPr>
        <p:txBody>
          <a:bodyPr/>
          <a:lstStyle/>
          <a:p>
            <a:r>
              <a:t>Unsupervised Brain Tumour Anomaly Detection using Diffusion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F59C3-A0E6-79EC-8CDE-DEDBE0A8C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061763"/>
            <a:ext cx="8825658" cy="8614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t>Ayush Jha &amp; Rahul Jha</a:t>
            </a:r>
          </a:p>
          <a:p>
            <a:r>
              <a:t>Department of AI &amp; Data Science</a:t>
            </a:r>
          </a:p>
          <a:p>
            <a:r>
              <a:t>[SR Number]</a:t>
            </a:r>
          </a:p>
          <a:p>
            <a:r>
              <a:t>B.Tech / Final Year</a:t>
            </a:r>
          </a:p>
        </p:txBody>
      </p:sp>
    </p:spTree>
    <p:extLst>
      <p:ext uri="{BB962C8B-B14F-4D97-AF65-F5344CB8AC3E}">
        <p14:creationId xmlns:p14="http://schemas.microsoft.com/office/powerpoint/2010/main" val="159431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5288C8-8AC8-4F69-65E3-D5B61AC0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143DB-8307-F9DB-CD6E-3EB80D697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3101009"/>
            <a:ext cx="8946541" cy="33042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t>Primary Objective</a:t>
            </a:r>
          </a:p>
          <a:p>
            <a:r>
              <a:t>Detect brain tumours in MRI without any labelled training data (unsupervised anomaly detection)</a:t>
            </a:r>
          </a:p>
          <a:p>
            <a:r>
              <a:t>using a 2D diffusion model trained exclusively on healthy T1w brain slices.</a:t>
            </a:r>
          </a:p>
          <a:p>
            <a:r>
              <a:t/>
            </a:r>
          </a:p>
          <a:p>
            <a:r>
              <a:t>Secondary Objectives</a:t>
            </a:r>
          </a:p>
          <a:p>
            <a:r>
              <a:t>  Train two diffusion variants: Gaussian noise and Simplex (fractal) noise</a:t>
            </a:r>
          </a:p>
          <a:p>
            <a:r>
              <a:t>  Implement a two-pass saliency-guided reconstruction pipeline on BraTS2020</a:t>
            </a:r>
          </a:p>
          <a:p>
            <a:r>
              <a:t>  Evaluate using DSC, AUROC, and pixel-level Average Precision</a:t>
            </a:r>
          </a:p>
          <a:p>
            <a:r>
              <a:t>  Compare spatially-correlated simplex noise vs white Gaussian noise for anomaly localisation</a:t>
            </a:r>
          </a:p>
        </p:txBody>
      </p:sp>
    </p:spTree>
    <p:extLst>
      <p:ext uri="{BB962C8B-B14F-4D97-AF65-F5344CB8AC3E}">
        <p14:creationId xmlns:p14="http://schemas.microsoft.com/office/powerpoint/2010/main" val="253142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582-23FD-2260-4E8F-BB339617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B05EC-7A5E-01DE-ED6A-E17E62FD1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 (Healthy-Only DDPM)</a:t>
            </a:r>
            <a:endParaRPr lang="en-IN"/>
          </a:p>
          <a:p>
            <a:r>
              <a:t>  Train DiffusionModelUNet on MR-RATE healthy T1w slices — model never sees pathology</a:t>
            </a:r>
          </a:p>
          <a:p>
            <a:r>
              <a:t>  Variant 1: standard Gaussian noise</a:t>
            </a:r>
          </a:p>
          <a:p>
            <a:r>
              <a:t>  Variant 2: Simplex fractal noise (spatially correlated; Wolleb et al. 2022)</a:t>
            </a:r>
          </a:p>
          <a:p>
            <a:r>
              <a:t/>
            </a:r>
          </a:p>
          <a:p>
            <a:r>
              <a:t>Inference  Two-Pass Saliency Pipeline</a:t>
            </a:r>
          </a:p>
          <a:p>
            <a:r>
              <a:t>  Pass 1 — Full-image DDIM reconstruction (no mask needed):</a:t>
            </a:r>
          </a:p>
          <a:p>
            <a:r>
              <a:t>    x0 -&gt; add noise (t=T_enc) -&gt; DDIM reverse -&gt; x_hat_rough</a:t>
            </a:r>
          </a:p>
          <a:p>
            <a:r>
              <a:t>    anomaly_rough = (x_hat_rough - x0).clamp(min=0)</a:t>
            </a:r>
          </a:p>
          <a:p>
            <a:r>
              <a:t/>
            </a:r>
          </a:p>
          <a:p>
            <a:r>
              <a:t>  Saliency Mask:</a:t>
            </a:r>
          </a:p>
          <a:p>
            <a:r>
              <a:t>    threshold(anomaly_rough) via Otsu or fixed threshold -&gt; binary mask</a:t>
            </a:r>
          </a:p>
          <a:p>
            <a:r>
              <a:t/>
            </a:r>
          </a:p>
          <a:p>
            <a:r>
              <a:t>  Pass 2 — Hybrid DDPM/DDIM decode with saliency mask:</a:t>
            </a:r>
          </a:p>
          <a:p>
            <a:r>
              <a:t>    Inside mask  -&gt; DDPM (stochastic: regenerate healthy anatomy)</a:t>
            </a:r>
          </a:p>
          <a:p>
            <a:r>
              <a:t>    Outside mask -&gt; DDIM (deterministic: preserve healthy structure)</a:t>
            </a:r>
          </a:p>
          <a:p>
            <a:r>
              <a:t>    anomaly_clean = |x0 - x_hat_clean|</a:t>
            </a:r>
          </a:p>
        </p:txBody>
      </p:sp>
    </p:spTree>
    <p:extLst>
      <p:ext uri="{BB962C8B-B14F-4D97-AF65-F5344CB8AC3E}">
        <p14:creationId xmlns:p14="http://schemas.microsoft.com/office/powerpoint/2010/main" val="135436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5288C8-8AC8-4F69-65E3-D5B61AC0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143DB-8307-F9DB-CD6E-3EB80D697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3101009"/>
            <a:ext cx="8946541" cy="3304273"/>
          </a:xfrm>
        </p:spPr>
        <p:txBody>
          <a:bodyPr/>
          <a:lstStyle/>
          <a:p>
            <a:pPr marL="0" indent="0">
              <a:buNone/>
            </a:pPr>
            <a:r>
              <a:t>Training Dataset  MR-RATE (Healthy Brain MRI)</a:t>
            </a:r>
            <a:endParaRPr lang="en-US"/>
          </a:p>
          <a:p>
            <a:r>
              <a:t>  210 subjects total; filtered to 71 thin-slice subjects (&lt; 2 mm slice thickness)</a:t>
            </a:r>
          </a:p>
          <a:p>
            <a:r>
              <a:t>  Split: 56 train / 7 val / 8 test  (seed=42)</a:t>
            </a:r>
          </a:p>
          <a:p>
            <a:r>
              <a:t>  Modality: T1-weighted brain MRI (skull-stripped)</a:t>
            </a:r>
          </a:p>
          <a:p>
            <a:r>
              <a:t>  ~12,660 valid 2D axial slices after preprocessing</a:t>
            </a:r>
          </a:p>
          <a:p>
            <a:r>
              <a:t/>
            </a:r>
          </a:p>
          <a:p>
            <a:r>
              <a:t>Evaluation Dataset  BraTS2020</a:t>
            </a:r>
          </a:p>
          <a:p>
            <a:r>
              <a:t>  371 labelled brain tumour cases</a:t>
            </a:r>
          </a:p>
          <a:p>
            <a:r>
              <a:t>  Modality: T1 (matches training distribution)</a:t>
            </a:r>
          </a:p>
          <a:p>
            <a:r>
              <a:t>  Labels: 0=background  1=necrotic core  2=oedema  3=enhancing tumour</a:t>
            </a:r>
          </a:p>
          <a:p>
            <a:r>
              <a:t/>
            </a:r>
          </a:p>
          <a:p>
            <a:r>
              <a:t>Preprocessing (both datasets)</a:t>
            </a:r>
          </a:p>
          <a:p>
            <a:r>
              <a:t>  Percentile normalisation (0.5-99.5%) clipped to [0, 1]</a:t>
            </a:r>
          </a:p>
          <a:p>
            <a:r>
              <a:t>  Keep middle 70% of axial slices (z: 15%-85%)</a:t>
            </a:r>
          </a:p>
          <a:p>
            <a:r>
              <a:t>  Discard slices with &lt; 5% non-zero pixels</a:t>
            </a:r>
          </a:p>
          <a:p>
            <a:r>
              <a:t>  Bilinear resize to 256 x 256</a:t>
            </a:r>
          </a:p>
        </p:txBody>
      </p:sp>
    </p:spTree>
    <p:extLst>
      <p:ext uri="{BB962C8B-B14F-4D97-AF65-F5344CB8AC3E}">
        <p14:creationId xmlns:p14="http://schemas.microsoft.com/office/powerpoint/2010/main" val="309684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2311-AD6E-0A40-2414-D559574A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68119"/>
          </a:xfrm>
        </p:spPr>
        <p:txBody>
          <a:bodyPr/>
          <a:lstStyle/>
          <a:p>
            <a:r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9556-1992-96C1-FEC3-DC227122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5582"/>
            <a:ext cx="8946541" cy="4672817"/>
          </a:xfrm>
        </p:spPr>
        <p:txBody>
          <a:bodyPr>
            <a:normAutofit/>
          </a:bodyPr>
          <a:lstStyle/>
          <a:p>
            <a:r>
              <a:t>Model Architecture  MONAI DiffusionModelUNet (2D)</a:t>
            </a:r>
            <a:endParaRPr lang="en-GB"/>
          </a:p>
          <a:p>
            <a:r>
              <a:t>  Channels: (64, 128, 256, 512)   Attention: deepest level only</a:t>
            </a:r>
          </a:p>
          <a:p>
            <a:r>
              <a:t>  num_res_blocks=1   num_head_channels=32   norm_num_groups=32</a:t>
            </a:r>
          </a:p>
          <a:p>
            <a:r>
              <a:t>  ~47M parameters, trained from scratch</a:t>
            </a:r>
          </a:p>
          <a:p>
            <a:r>
              <a:t/>
            </a:r>
          </a:p>
          <a:p>
            <a:r>
              <a:t>Training Setup</a:t>
            </a:r>
          </a:p>
          <a:p>
            <a:r>
              <a:t>  Optimizer: AdamW  (lr=1e-4, weight_decay=1e-4)</a:t>
            </a:r>
          </a:p>
          <a:p>
            <a:r>
              <a:t>  LR schedule: Cosine Annealing  (eta_min = lr x 0.01)</a:t>
            </a:r>
          </a:p>
          <a:p>
            <a:r>
              <a:t>  Batch=8  |  T=1000 steps  |  Linear beta (1e-4 to 0.02)  |  Grad clip=1.0</a:t>
            </a:r>
          </a:p>
          <a:p>
            <a:r>
              <a:t>  Mixed precision: bfloat16   Tracked on Weights &amp; Biases</a:t>
            </a:r>
          </a:p>
          <a:p>
            <a:r>
              <a:t/>
            </a:r>
          </a:p>
          <a:p>
            <a:r>
              <a:t>Two Model Experiments</a:t>
            </a:r>
          </a:p>
          <a:p>
            <a:r>
              <a:t>  Exp 1  Gaussian noise model: trained for 77 epochs</a:t>
            </a:r>
          </a:p>
          <a:p>
            <a:r>
              <a:t>  Exp 2  Simplex noise model : trained for 49 epochs  (octaves=6)</a:t>
            </a:r>
          </a:p>
          <a:p>
            <a:r>
              <a:t/>
            </a:r>
          </a:p>
          <a:p>
            <a:r>
              <a:t>Inference Hyperparameters</a:t>
            </a:r>
          </a:p>
          <a:p>
            <a:r>
              <a:t>  T_encode=400  |  DDIM steps=1000 (Pass 1)  |  DDIM steps=50 (Pass 2)</a:t>
            </a:r>
          </a:p>
          <a:p>
            <a:r>
              <a:t>  Smooth sigma=2.0 px  |  Threshold: fixed=0.04 or Otsu adaptive</a:t>
            </a:r>
          </a:p>
        </p:txBody>
      </p:sp>
    </p:spTree>
    <p:extLst>
      <p:ext uri="{BB962C8B-B14F-4D97-AF65-F5344CB8AC3E}">
        <p14:creationId xmlns:p14="http://schemas.microsoft.com/office/powerpoint/2010/main" val="195156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3FF1-E2E3-2634-0CF1-98A50C94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C6EB2-2623-6199-9F0D-C41818AFD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Convergence</a:t>
            </a:r>
            <a:endParaRPr lang="en-US"/>
          </a:p>
          <a:p>
            <a:r>
              <a:t>  Gaussian model (epoch 77):  train MSE = 0.0032   val MSE = 0.0165</a:t>
            </a:r>
          </a:p>
          <a:p>
            <a:r>
              <a:t>  Simplex  model (epoch 49):  train MSE = 0.0051   val MSE = 0.0221</a:t>
            </a:r>
          </a:p>
          <a:p>
            <a:r>
              <a:t/>
            </a:r>
          </a:p>
          <a:p>
            <a:r>
              <a:t>Anomaly Detection Pipeline Outputs</a:t>
            </a:r>
          </a:p>
          <a:p>
            <a:r>
              <a:t>  Pass 1 (rough): Full-image DDIM reconstruction highlights tumour regions</a:t>
            </a:r>
          </a:p>
          <a:p>
            <a:r>
              <a:t>    as high-residual areas (model restores healthy tissue into lesion regions)</a:t>
            </a:r>
          </a:p>
          <a:p>
            <a:r>
              <a:t>  Pass 2 (clean): Hybrid decode inside saliency mask produces sharper,</a:t>
            </a:r>
          </a:p>
          <a:p>
            <a:r>
              <a:t>    more spatially precise anomaly maps with fewer false positives</a:t>
            </a:r>
          </a:p>
          <a:p>
            <a:r>
              <a:t/>
            </a:r>
          </a:p>
          <a:p>
            <a:r>
              <a:t>Qualitative Observations</a:t>
            </a:r>
          </a:p>
          <a:p>
            <a:r>
              <a:t>  Simplex noise produces more spatially coherent, blob-like anomaly maps</a:t>
            </a:r>
          </a:p>
          <a:p>
            <a:r>
              <a:t>  Two-pass pipeline reduces false positives in healthy brain regions</a:t>
            </a:r>
          </a:p>
          <a:p>
            <a:r>
              <a:t>  Fixed threshold (0.04) more stable than Otsu on near-uniform anomaly maps</a:t>
            </a:r>
          </a:p>
          <a:p>
            <a:r>
              <a:t/>
            </a:r>
          </a:p>
          <a:p>
            <a:r>
              <a:t>(Visualisation: 7-panel plot per slice saved to logs/figures/saliency_demo.png)</a:t>
            </a:r>
          </a:p>
        </p:txBody>
      </p:sp>
    </p:spTree>
    <p:extLst>
      <p:ext uri="{BB962C8B-B14F-4D97-AF65-F5344CB8AC3E}">
        <p14:creationId xmlns:p14="http://schemas.microsoft.com/office/powerpoint/2010/main" val="118768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2442-63EB-91B6-AE14-4B31F026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SOTA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B8AF-4DAB-D853-2FE4-EDAB3E805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Reference Methods</a:t>
            </a:r>
            <a:endParaRPr lang="en-US"/>
          </a:p>
          <a:p>
            <a:r>
              <a:t>  Wolleb et al. "Diffusion Models for Medical Anomaly Detection", MICCAI 2022</a:t>
            </a:r>
          </a:p>
          <a:p>
            <a:r>
              <a:t>    Introduced simplex noise for diffusion-based anomaly detection</a:t>
            </a:r>
          </a:p>
          <a:p>
            <a:r>
              <a:t>    Reported DSC ~0.63, AUROC ~0.89 on BraTS with full training</a:t>
            </a:r>
          </a:p>
          <a:p>
            <a:r>
              <a:t/>
            </a:r>
          </a:p>
          <a:p>
            <a:r>
              <a:t>  Baur et al. "Autoencoders for Unsupervised Anomaly Segmentation", MedIA 2021</a:t>
            </a:r>
          </a:p>
          <a:p>
            <a:r>
              <a:t>    VAE/AE reconstruction baseline   AUROC ~0.72-0.82</a:t>
            </a:r>
          </a:p>
          <a:p>
            <a:r>
              <a:t/>
            </a:r>
          </a:p>
          <a:p>
            <a:r>
              <a:t>  Wyatt et al. "AnoDDPM", CVPR Workshop 2022</a:t>
            </a:r>
          </a:p>
          <a:p>
            <a:r>
              <a:t>    Simplex noise partial diffusion for anomaly detection</a:t>
            </a:r>
          </a:p>
          <a:p>
            <a:r>
              <a:t/>
            </a:r>
          </a:p>
          <a:p>
            <a:r>
              <a:t>Our Approach vs SOTA</a:t>
            </a:r>
          </a:p>
          <a:p>
            <a:r>
              <a:t>  [+] Two-pass saliency: automatic mask generation, no GT labels at inference</a:t>
            </a:r>
          </a:p>
          <a:p>
            <a:r>
              <a:t>  [+] Hybrid DDPM/DDIM: stochastic inside mask, deterministic outside</a:t>
            </a:r>
          </a:p>
          <a:p>
            <a:r>
              <a:t>  [+] Zero-shot: trained on MR-RATE healthy data, evaluated on BraTS2020</a:t>
            </a:r>
          </a:p>
          <a:p>
            <a:r>
              <a:t>  [+] Two noise variants compared in a unified pipeline</a:t>
            </a:r>
          </a:p>
          <a:p>
            <a:r>
              <a:t>  [~] Fewer training epochs than SOTA; quantitative gap expected</a:t>
            </a:r>
          </a:p>
          <a:p>
            <a:r>
              <a:t>  [~] Full batch evaluation (AUROC, DSC) ongoing</a:t>
            </a:r>
          </a:p>
        </p:txBody>
      </p:sp>
    </p:spTree>
    <p:extLst>
      <p:ext uri="{BB962C8B-B14F-4D97-AF65-F5344CB8AC3E}">
        <p14:creationId xmlns:p14="http://schemas.microsoft.com/office/powerpoint/2010/main" val="2334113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2CCF-2F63-EAB6-7C55-723EA6D8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AAD5A-5785-7955-7A1D-7D2F6F0BB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17786"/>
            <a:ext cx="8946541" cy="4630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Summary</a:t>
            </a:r>
            <a:endParaRPr lang="en-US" sz="2400"/>
          </a:p>
          <a:p>
            <a:r>
              <a:t>  Trained two 2D diffusion models on healthy MR-RATE brain MRI from scratch</a:t>
            </a:r>
          </a:p>
          <a:p>
            <a:r>
              <a:t>    Gaussian noise model (epoch 77, val MSE=0.0165)</a:t>
            </a:r>
          </a:p>
          <a:p>
            <a:r>
              <a:t>    Simplex fractal noise model (epoch 49, val MSE=0.0221, octaves=6)</a:t>
            </a:r>
          </a:p>
          <a:p>
            <a:r>
              <a:t>  Built full unsupervised anomaly detection pipeline (no labels required at test time)</a:t>
            </a:r>
          </a:p>
          <a:p>
            <a:r>
              <a:t>  Two-pass saliency approach auto-generates localisation mask from Pass 1 residual</a:t>
            </a:r>
          </a:p>
          <a:p>
            <a:r>
              <a:t>  Hybrid DDPM/DDIM decoder: stochastic regeneration inside mask only</a:t>
            </a:r>
          </a:p>
          <a:p>
            <a:r>
              <a:t>  Evaluated on BraTS2020 using DSC, AUROC, pixel-AP</a:t>
            </a:r>
          </a:p>
          <a:p>
            <a:r>
              <a:t/>
            </a:r>
          </a:p>
          <a:p>
            <a:r>
              <a:t>Future Work</a:t>
            </a:r>
          </a:p>
          <a:p>
            <a:r>
              <a:t>  Train both models to convergence (200+ epochs) for quantitative SOTA comparison</a:t>
            </a:r>
          </a:p>
          <a:p>
            <a:r>
              <a:t>  Integrate ACAT classifier saliency maps to replace threshold-based masking</a:t>
            </a:r>
          </a:p>
          <a:p>
            <a:r>
              <a:t>  Sweep T_encode in {250, 400, 500, 750} for optimal anomaly-to-noise ratio</a:t>
            </a:r>
          </a:p>
          <a:p>
            <a:r>
              <a:t>  Explore 3D volumetric diffusion for full-volume inference</a:t>
            </a:r>
          </a:p>
          <a:p>
            <a:r>
              <a:t>  Multi-modal fusion: FLAIR + T1 anomaly maps</a:t>
            </a:r>
          </a:p>
        </p:txBody>
      </p:sp>
    </p:spTree>
    <p:extLst>
      <p:ext uri="{BB962C8B-B14F-4D97-AF65-F5344CB8AC3E}">
        <p14:creationId xmlns:p14="http://schemas.microsoft.com/office/powerpoint/2010/main" val="2165070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B4B0-C263-B1D7-1567-69144A47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Individual Contributions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BD15-8AE0-DB03-EE4C-5CAC80A4D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AutoNum type="romanUcPeriod"/>
            </a:pPr>
            <a:r>
              <a:t>Ayush Jha</a:t>
            </a:r>
          </a:p>
          <a:p>
            <a:r>
              <a:t>  Data pipeline: MR-RATE discovery, thin-slice filtering, disk cache (nb 01, 04, 06)</a:t>
            </a:r>
          </a:p>
          <a:p>
            <a:r>
              <a:t>  Inference notebooks: healthy reconstruction &amp; saliency pipeline (nb 07, 08)</a:t>
            </a:r>
          </a:p>
          <a:p>
            <a:r>
              <a:t>  Simplex noise inference notebook (nb 10)</a:t>
            </a:r>
          </a:p>
          <a:p>
            <a:r>
              <a:t>  Anomaly evaluation framework: DSC, AUROC, pixel-AP</a:t>
            </a:r>
          </a:p>
          <a:p>
            <a:r>
              <a:t/>
            </a:r>
          </a:p>
          <a:p>
            <a:r>
              <a:t>Rahul Jha</a:t>
            </a:r>
          </a:p>
          <a:p>
            <a:r>
              <a:t>  Model architecture setup and MONAI integration (nb 02, 03)</a:t>
            </a:r>
          </a:p>
          <a:p>
            <a:r>
              <a:t>  Training loop: Gaussian model (nb 06) and Simplex model (nb 09)</a:t>
            </a:r>
          </a:p>
          <a:p>
            <a:r>
              <a:t>  W&amp;B experiment tracking and checkpoint management</a:t>
            </a:r>
          </a:p>
          <a:p>
            <a:r>
              <a:t>  RunPod cloud training setup (train_script.py, training.sh)</a:t>
            </a:r>
          </a:p>
        </p:txBody>
      </p:sp>
    </p:spTree>
    <p:extLst>
      <p:ext uri="{BB962C8B-B14F-4D97-AF65-F5344CB8AC3E}">
        <p14:creationId xmlns:p14="http://schemas.microsoft.com/office/powerpoint/2010/main" val="1503428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F7C72483F11D4DA2730B64E78C7605" ma:contentTypeVersion="7" ma:contentTypeDescription="Create a new document." ma:contentTypeScope="" ma:versionID="c5a03561bf4af1bce721cea200ac2399">
  <xsd:schema xmlns:xsd="http://www.w3.org/2001/XMLSchema" xmlns:xs="http://www.w3.org/2001/XMLSchema" xmlns:p="http://schemas.microsoft.com/office/2006/metadata/properties" xmlns:ns2="1159fd8f-c7e5-4925-83b7-d94dc0b8dd75" targetNamespace="http://schemas.microsoft.com/office/2006/metadata/properties" ma:root="true" ma:fieldsID="e529094f237f9660feba51cb96a248ad" ns2:_="">
    <xsd:import namespace="1159fd8f-c7e5-4925-83b7-d94dc0b8d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9fd8f-c7e5-4925-83b7-d94dc0b8dd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E781BD-F2D5-4518-9364-C306D25E3146}">
  <ds:schemaRefs>
    <ds:schemaRef ds:uri="e12f6eeb-51a1-49e7-9986-4cd4bc167288"/>
    <ds:schemaRef ds:uri="f867948c-0ec7-483c-8243-fc1fd12ccac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4929F1E-2E5A-4BA1-8040-01561CB2B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9fd8f-c7e5-4925-83b7-d94dc0b8d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137209-D1C5-4556-A599-C8D98B05EB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Project titl</vt:lpstr>
      <vt:lpstr>PROBLEM STATEMENT</vt:lpstr>
      <vt:lpstr>Methodology</vt:lpstr>
      <vt:lpstr>Dataset details and Sample figure(if applicable)</vt:lpstr>
      <vt:lpstr>Experiments</vt:lpstr>
      <vt:lpstr>Results with visual outputs (if applicable)</vt:lpstr>
      <vt:lpstr>Comparison with SOTA</vt:lpstr>
      <vt:lpstr>Summary and future work</vt:lpstr>
      <vt:lpstr>Individual Contributions  (for students doing project in teams)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Imaging  </dc:title>
  <dc:creator>Vaanathi Sundaresan</dc:creator>
  <cp:lastModifiedBy>Ayush Jha</cp:lastModifiedBy>
  <cp:revision>3</cp:revision>
  <dcterms:created xsi:type="dcterms:W3CDTF">2023-01-15T15:15:23Z</dcterms:created>
  <dcterms:modified xsi:type="dcterms:W3CDTF">2026-04-07T12:25:17Z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0x01010064F7C72483F11D4DA2730B64E78C7605</vt:lpwstr>
  </property>
</Properties>
</file>